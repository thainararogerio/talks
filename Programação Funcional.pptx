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</p:sldIdLst>
  <p:sldSz cy="5143500" cx="9144000"/>
  <p:notesSz cx="6858000" cy="9144000"/>
  <p:embeddedFontLst>
    <p:embeddedFont>
      <p:font typeface="Source Code Pro"/>
      <p:regular r:id="rId62"/>
      <p:bold r:id="rId63"/>
    </p:embeddedFont>
    <p:embeddedFont>
      <p:font typeface="Oswald"/>
      <p:regular r:id="rId64"/>
      <p:bold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SourceCodePro-regular.fntdata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font" Target="fonts/Oswald-regular.fntdata"/><Relationship Id="rId63" Type="http://schemas.openxmlformats.org/officeDocument/2006/relationships/font" Target="fonts/SourceCodePro-bold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65" Type="http://schemas.openxmlformats.org/officeDocument/2006/relationships/font" Target="fonts/Oswald-bold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Shape 6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Shape 6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Shape 7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Shape 8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Shape 9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Shape 10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Shape 11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Shape 12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Shape 14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Shape 15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Shape 16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Shape 17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Shape 19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Shape 19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Shape 20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Shape 21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operam somente sobre os parametros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Shape 22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operam somente sobre os parametros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Shape 23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operam somente sobre os parametros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Shape 24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operam somente sobre os parametros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Shape 25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operam somente sobre os parametros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Shape 26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operam somente sobre os parametros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Shape 28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operam somente sobre os parametros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Shape 29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Shape 30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30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Shape 31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31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Shape 31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Shape 32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33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Shape 33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hape 34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Shape 34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35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Shape 35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36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Shape 36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hape 37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Shape 37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38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Shape 38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Shape 39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Shape 39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41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Shape 41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Shape 42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Shape 42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Shape 43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Shape 43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43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Shape 43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44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Shape 44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Shape 45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Shape 45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45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Shape 46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46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Shape 46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hape 48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Shape 48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48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Shape 49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Shape 49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Shape 49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Shape 50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Shape 50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Shape 51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Shape 51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Shape 52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Shape 52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Shape 53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Shape 53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54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Shape 54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Shape 55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Shape 55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56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Shape 56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Shape 57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Shape 57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Shape 58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Shape 58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Shape 11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Shape 1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Shape 13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Shape 17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Shape 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hape 20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Shape 2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Shape 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hape 2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Shape 2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Shape 28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Shape 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Shape 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hape 34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Shape 35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Shape 36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Shape 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Shape 43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Shape 44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Shape 45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Shape 4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Shape 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hape 52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Shape 5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Shape 5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Shape 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Programação Funcional</a:t>
            </a:r>
            <a:endParaRPr/>
          </a:p>
        </p:txBody>
      </p:sp>
      <p:sp>
        <p:nvSpPr>
          <p:cNvPr id="63" name="Shape 63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Thainara Rogério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</a:t>
            </a:r>
            <a:endParaRPr/>
          </a:p>
        </p:txBody>
      </p:sp>
      <p:sp>
        <p:nvSpPr>
          <p:cNvPr id="69" name="Shape 6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/>
              <a:t>Estilo de código</a:t>
            </a:r>
            <a:endParaRPr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</a:t>
            </a:r>
            <a:endParaRPr/>
          </a:p>
        </p:txBody>
      </p:sp>
      <p:sp>
        <p:nvSpPr>
          <p:cNvPr id="75" name="Shape 75"/>
          <p:cNvSpPr txBox="1"/>
          <p:nvPr>
            <p:ph idx="4294967295" type="body"/>
          </p:nvPr>
        </p:nvSpPr>
        <p:spPr>
          <a:xfrm>
            <a:off x="3315150" y="3808750"/>
            <a:ext cx="2818500" cy="11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rPr>
              <a:t>Estilo de código</a:t>
            </a:r>
            <a:endParaRPr sz="3600">
              <a:solidFill>
                <a:schemeClr val="l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</a:t>
            </a:r>
            <a:endParaRPr/>
          </a:p>
        </p:txBody>
      </p:sp>
      <p:sp>
        <p:nvSpPr>
          <p:cNvPr id="81" name="Shape 8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/>
              <a:t>Paradigma de programação</a:t>
            </a:r>
            <a:endParaRPr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</a:t>
            </a:r>
            <a:endParaRPr/>
          </a:p>
        </p:txBody>
      </p:sp>
      <p:sp>
        <p:nvSpPr>
          <p:cNvPr id="87" name="Shape 8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/>
              <a:t>Paradigma de programação</a:t>
            </a:r>
            <a:endParaRPr sz="3600"/>
          </a:p>
        </p:txBody>
      </p:sp>
      <p:sp>
        <p:nvSpPr>
          <p:cNvPr id="88" name="Shape 88"/>
          <p:cNvSpPr/>
          <p:nvPr/>
        </p:nvSpPr>
        <p:spPr>
          <a:xfrm>
            <a:off x="4752350" y="350050"/>
            <a:ext cx="1230600" cy="124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Shape 89"/>
          <p:cNvSpPr txBox="1"/>
          <p:nvPr/>
        </p:nvSpPr>
        <p:spPr>
          <a:xfrm>
            <a:off x="4752350" y="724200"/>
            <a:ext cx="13242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</a:rPr>
              <a:t>Imperativa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</a:t>
            </a:r>
            <a:endParaRPr/>
          </a:p>
        </p:txBody>
      </p:sp>
      <p:sp>
        <p:nvSpPr>
          <p:cNvPr id="95" name="Shape 9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/>
              <a:t>Paradigma de programação</a:t>
            </a:r>
            <a:endParaRPr sz="3600"/>
          </a:p>
        </p:txBody>
      </p:sp>
      <p:sp>
        <p:nvSpPr>
          <p:cNvPr id="96" name="Shape 96"/>
          <p:cNvSpPr/>
          <p:nvPr/>
        </p:nvSpPr>
        <p:spPr>
          <a:xfrm>
            <a:off x="4752350" y="350050"/>
            <a:ext cx="1230600" cy="124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Shape 97"/>
          <p:cNvSpPr txBox="1"/>
          <p:nvPr/>
        </p:nvSpPr>
        <p:spPr>
          <a:xfrm>
            <a:off x="4752350" y="724200"/>
            <a:ext cx="13242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</a:rPr>
              <a:t>Imperativa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98" name="Shape 98"/>
          <p:cNvSpPr/>
          <p:nvPr/>
        </p:nvSpPr>
        <p:spPr>
          <a:xfrm>
            <a:off x="7684775" y="724200"/>
            <a:ext cx="1230600" cy="124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Shape 99"/>
          <p:cNvSpPr txBox="1"/>
          <p:nvPr/>
        </p:nvSpPr>
        <p:spPr>
          <a:xfrm>
            <a:off x="7637975" y="1115375"/>
            <a:ext cx="13242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</a:rPr>
              <a:t>Procedural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</a:t>
            </a:r>
            <a:endParaRPr/>
          </a:p>
        </p:txBody>
      </p:sp>
      <p:sp>
        <p:nvSpPr>
          <p:cNvPr id="105" name="Shape 10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/>
              <a:t>Paradigma de programação</a:t>
            </a:r>
            <a:endParaRPr sz="3600"/>
          </a:p>
        </p:txBody>
      </p:sp>
      <p:sp>
        <p:nvSpPr>
          <p:cNvPr id="106" name="Shape 106"/>
          <p:cNvSpPr/>
          <p:nvPr/>
        </p:nvSpPr>
        <p:spPr>
          <a:xfrm>
            <a:off x="4752350" y="350050"/>
            <a:ext cx="1230600" cy="124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Shape 107"/>
          <p:cNvSpPr txBox="1"/>
          <p:nvPr/>
        </p:nvSpPr>
        <p:spPr>
          <a:xfrm>
            <a:off x="4752350" y="724200"/>
            <a:ext cx="13242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</a:rPr>
              <a:t>Imperativa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08" name="Shape 108"/>
          <p:cNvSpPr/>
          <p:nvPr/>
        </p:nvSpPr>
        <p:spPr>
          <a:xfrm>
            <a:off x="7684775" y="724200"/>
            <a:ext cx="1230600" cy="124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7637975" y="1115375"/>
            <a:ext cx="13242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</a:rPr>
              <a:t>Procedural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10" name="Shape 110"/>
          <p:cNvSpPr/>
          <p:nvPr/>
        </p:nvSpPr>
        <p:spPr>
          <a:xfrm>
            <a:off x="6542400" y="2993425"/>
            <a:ext cx="1230600" cy="124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Shape 111"/>
          <p:cNvSpPr txBox="1"/>
          <p:nvPr/>
        </p:nvSpPr>
        <p:spPr>
          <a:xfrm>
            <a:off x="6542400" y="3367575"/>
            <a:ext cx="13242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FFFF"/>
                </a:solidFill>
              </a:rPr>
              <a:t>Estruturada</a:t>
            </a:r>
            <a:endParaRPr sz="1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</a:t>
            </a:r>
            <a:endParaRPr/>
          </a:p>
        </p:txBody>
      </p:sp>
      <p:sp>
        <p:nvSpPr>
          <p:cNvPr id="117" name="Shape 1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/>
              <a:t>Paradigma de programação</a:t>
            </a:r>
            <a:endParaRPr sz="3600"/>
          </a:p>
        </p:txBody>
      </p:sp>
      <p:sp>
        <p:nvSpPr>
          <p:cNvPr id="118" name="Shape 118"/>
          <p:cNvSpPr/>
          <p:nvPr/>
        </p:nvSpPr>
        <p:spPr>
          <a:xfrm>
            <a:off x="4752350" y="350050"/>
            <a:ext cx="1230600" cy="124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Shape 119"/>
          <p:cNvSpPr txBox="1"/>
          <p:nvPr/>
        </p:nvSpPr>
        <p:spPr>
          <a:xfrm>
            <a:off x="4752350" y="724200"/>
            <a:ext cx="13242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</a:rPr>
              <a:t>Imperativa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20" name="Shape 120"/>
          <p:cNvSpPr/>
          <p:nvPr/>
        </p:nvSpPr>
        <p:spPr>
          <a:xfrm>
            <a:off x="7684775" y="724200"/>
            <a:ext cx="1230600" cy="124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Shape 121"/>
          <p:cNvSpPr txBox="1"/>
          <p:nvPr/>
        </p:nvSpPr>
        <p:spPr>
          <a:xfrm>
            <a:off x="7637975" y="1115375"/>
            <a:ext cx="13242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</a:rPr>
              <a:t>Procedural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22" name="Shape 122"/>
          <p:cNvSpPr/>
          <p:nvPr/>
        </p:nvSpPr>
        <p:spPr>
          <a:xfrm>
            <a:off x="6542400" y="2993425"/>
            <a:ext cx="1230600" cy="124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Shape 123"/>
          <p:cNvSpPr txBox="1"/>
          <p:nvPr/>
        </p:nvSpPr>
        <p:spPr>
          <a:xfrm>
            <a:off x="6542400" y="3367575"/>
            <a:ext cx="13242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FFFF"/>
                </a:solidFill>
              </a:rPr>
              <a:t>Estruturada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124" name="Shape 124"/>
          <p:cNvSpPr/>
          <p:nvPr/>
        </p:nvSpPr>
        <p:spPr>
          <a:xfrm>
            <a:off x="4793600" y="3545425"/>
            <a:ext cx="1230600" cy="124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hape 125"/>
          <p:cNvSpPr txBox="1"/>
          <p:nvPr/>
        </p:nvSpPr>
        <p:spPr>
          <a:xfrm>
            <a:off x="4752350" y="3868575"/>
            <a:ext cx="13242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FFFF"/>
                </a:solidFill>
              </a:rPr>
              <a:t>Orientada a objetos</a:t>
            </a:r>
            <a:endParaRPr sz="1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</a:t>
            </a:r>
            <a:endParaRPr/>
          </a:p>
        </p:txBody>
      </p:sp>
      <p:sp>
        <p:nvSpPr>
          <p:cNvPr id="131" name="Shape 13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/>
              <a:t>Paradigma de programação</a:t>
            </a:r>
            <a:endParaRPr sz="3600"/>
          </a:p>
        </p:txBody>
      </p:sp>
      <p:sp>
        <p:nvSpPr>
          <p:cNvPr id="132" name="Shape 132"/>
          <p:cNvSpPr/>
          <p:nvPr/>
        </p:nvSpPr>
        <p:spPr>
          <a:xfrm>
            <a:off x="4752350" y="350050"/>
            <a:ext cx="1230600" cy="124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Shape 133"/>
          <p:cNvSpPr txBox="1"/>
          <p:nvPr/>
        </p:nvSpPr>
        <p:spPr>
          <a:xfrm>
            <a:off x="4752350" y="724200"/>
            <a:ext cx="13242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</a:rPr>
              <a:t>Imperativa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4" name="Shape 134"/>
          <p:cNvSpPr/>
          <p:nvPr/>
        </p:nvSpPr>
        <p:spPr>
          <a:xfrm>
            <a:off x="7684775" y="724200"/>
            <a:ext cx="1230600" cy="124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Shape 135"/>
          <p:cNvSpPr txBox="1"/>
          <p:nvPr/>
        </p:nvSpPr>
        <p:spPr>
          <a:xfrm>
            <a:off x="7637975" y="1115375"/>
            <a:ext cx="13242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</a:rPr>
              <a:t>Procedural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6" name="Shape 136"/>
          <p:cNvSpPr/>
          <p:nvPr/>
        </p:nvSpPr>
        <p:spPr>
          <a:xfrm>
            <a:off x="6542400" y="2993425"/>
            <a:ext cx="1230600" cy="124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Shape 137"/>
          <p:cNvSpPr txBox="1"/>
          <p:nvPr/>
        </p:nvSpPr>
        <p:spPr>
          <a:xfrm>
            <a:off x="6542400" y="3367575"/>
            <a:ext cx="13242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FFFF"/>
                </a:solidFill>
              </a:rPr>
              <a:t>Estruturada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138" name="Shape 138"/>
          <p:cNvSpPr/>
          <p:nvPr/>
        </p:nvSpPr>
        <p:spPr>
          <a:xfrm>
            <a:off x="4793600" y="3545425"/>
            <a:ext cx="1230600" cy="124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Shape 139"/>
          <p:cNvSpPr txBox="1"/>
          <p:nvPr/>
        </p:nvSpPr>
        <p:spPr>
          <a:xfrm>
            <a:off x="4752350" y="3868575"/>
            <a:ext cx="13242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FFFF"/>
                </a:solidFill>
              </a:rPr>
              <a:t>Orientada a objetos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140" name="Shape 140"/>
          <p:cNvSpPr/>
          <p:nvPr/>
        </p:nvSpPr>
        <p:spPr>
          <a:xfrm>
            <a:off x="7866600" y="3767150"/>
            <a:ext cx="1230600" cy="124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Shape 141"/>
          <p:cNvSpPr txBox="1"/>
          <p:nvPr/>
        </p:nvSpPr>
        <p:spPr>
          <a:xfrm>
            <a:off x="7866600" y="4158325"/>
            <a:ext cx="13242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</a:rPr>
              <a:t>Funcional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</a:t>
            </a:r>
            <a:endParaRPr/>
          </a:p>
        </p:txBody>
      </p:sp>
      <p:sp>
        <p:nvSpPr>
          <p:cNvPr id="147" name="Shape 147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Shape 14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/>
              <a:t>?</a:t>
            </a:r>
            <a:endParaRPr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/>
          <p:nvPr/>
        </p:nvSpPr>
        <p:spPr>
          <a:xfrm>
            <a:off x="1921775" y="583275"/>
            <a:ext cx="1886700" cy="180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" name="Shape 154"/>
          <p:cNvSpPr txBox="1"/>
          <p:nvPr/>
        </p:nvSpPr>
        <p:spPr>
          <a:xfrm>
            <a:off x="2091100" y="970850"/>
            <a:ext cx="16533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Funções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Puras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/>
          <p:nvPr/>
        </p:nvSpPr>
        <p:spPr>
          <a:xfrm>
            <a:off x="1921775" y="583275"/>
            <a:ext cx="1886700" cy="180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" name="Shape 160"/>
          <p:cNvSpPr/>
          <p:nvPr/>
        </p:nvSpPr>
        <p:spPr>
          <a:xfrm>
            <a:off x="5106375" y="583275"/>
            <a:ext cx="1886700" cy="18081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" name="Shape 161"/>
          <p:cNvSpPr txBox="1"/>
          <p:nvPr/>
        </p:nvSpPr>
        <p:spPr>
          <a:xfrm>
            <a:off x="5331175" y="881000"/>
            <a:ext cx="14937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Imutabilidade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Shape 162"/>
          <p:cNvSpPr txBox="1"/>
          <p:nvPr/>
        </p:nvSpPr>
        <p:spPr>
          <a:xfrm>
            <a:off x="2091100" y="970850"/>
            <a:ext cx="16533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Funções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Puras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/>
          <p:nvPr/>
        </p:nvSpPr>
        <p:spPr>
          <a:xfrm>
            <a:off x="1921775" y="583275"/>
            <a:ext cx="1886700" cy="180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8" name="Shape 168"/>
          <p:cNvSpPr/>
          <p:nvPr/>
        </p:nvSpPr>
        <p:spPr>
          <a:xfrm>
            <a:off x="5106375" y="583275"/>
            <a:ext cx="1886700" cy="18081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" name="Shape 169"/>
          <p:cNvSpPr txBox="1"/>
          <p:nvPr/>
        </p:nvSpPr>
        <p:spPr>
          <a:xfrm>
            <a:off x="5331175" y="881000"/>
            <a:ext cx="14937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Imutabilidade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0" name="Shape 170"/>
          <p:cNvSpPr/>
          <p:nvPr/>
        </p:nvSpPr>
        <p:spPr>
          <a:xfrm>
            <a:off x="1924350" y="2892500"/>
            <a:ext cx="1886700" cy="1808100"/>
          </a:xfrm>
          <a:prstGeom prst="ellipse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" name="Shape 171"/>
          <p:cNvSpPr txBox="1"/>
          <p:nvPr/>
        </p:nvSpPr>
        <p:spPr>
          <a:xfrm>
            <a:off x="2414850" y="3426050"/>
            <a:ext cx="9057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2" name="Shape 172"/>
          <p:cNvSpPr txBox="1"/>
          <p:nvPr/>
        </p:nvSpPr>
        <p:spPr>
          <a:xfrm>
            <a:off x="2091100" y="970850"/>
            <a:ext cx="16533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Funções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Puras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/>
          <p:nvPr/>
        </p:nvSpPr>
        <p:spPr>
          <a:xfrm>
            <a:off x="1921775" y="583275"/>
            <a:ext cx="1886700" cy="180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" name="Shape 178"/>
          <p:cNvSpPr txBox="1"/>
          <p:nvPr/>
        </p:nvSpPr>
        <p:spPr>
          <a:xfrm>
            <a:off x="2091100" y="970850"/>
            <a:ext cx="16533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Funções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Puras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9" name="Shape 179"/>
          <p:cNvSpPr/>
          <p:nvPr/>
        </p:nvSpPr>
        <p:spPr>
          <a:xfrm>
            <a:off x="5106375" y="583275"/>
            <a:ext cx="1886700" cy="18081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" name="Shape 180"/>
          <p:cNvSpPr txBox="1"/>
          <p:nvPr/>
        </p:nvSpPr>
        <p:spPr>
          <a:xfrm>
            <a:off x="5331175" y="881000"/>
            <a:ext cx="14937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Imutabilidade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1" name="Shape 181"/>
          <p:cNvSpPr/>
          <p:nvPr/>
        </p:nvSpPr>
        <p:spPr>
          <a:xfrm>
            <a:off x="1921775" y="2892500"/>
            <a:ext cx="1886700" cy="1808100"/>
          </a:xfrm>
          <a:prstGeom prst="ellipse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" name="Shape 182"/>
          <p:cNvSpPr txBox="1"/>
          <p:nvPr/>
        </p:nvSpPr>
        <p:spPr>
          <a:xfrm>
            <a:off x="2412275" y="3426050"/>
            <a:ext cx="9057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3" name="Shape 183"/>
          <p:cNvSpPr/>
          <p:nvPr/>
        </p:nvSpPr>
        <p:spPr>
          <a:xfrm>
            <a:off x="5106375" y="2892500"/>
            <a:ext cx="1886700" cy="1808100"/>
          </a:xfrm>
          <a:prstGeom prst="ellipse">
            <a:avLst/>
          </a:prstGeom>
          <a:solidFill>
            <a:srgbClr val="83D162"/>
          </a:solidFill>
          <a:ln cap="flat" cmpd="sng" w="9525">
            <a:solidFill>
              <a:srgbClr val="83D1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" name="Shape 184"/>
          <p:cNvSpPr txBox="1"/>
          <p:nvPr/>
        </p:nvSpPr>
        <p:spPr>
          <a:xfrm>
            <a:off x="5339925" y="3426050"/>
            <a:ext cx="14937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Reduce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/>
          <p:nvPr/>
        </p:nvSpPr>
        <p:spPr>
          <a:xfrm>
            <a:off x="2031900" y="824876"/>
            <a:ext cx="3784500" cy="3936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" name="Shape 190"/>
          <p:cNvSpPr txBox="1"/>
          <p:nvPr/>
        </p:nvSpPr>
        <p:spPr>
          <a:xfrm>
            <a:off x="2538688" y="1668628"/>
            <a:ext cx="2996100" cy="16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pt-BR" sz="7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Funções</a:t>
            </a:r>
            <a:endParaRPr sz="72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Puras</a:t>
            </a:r>
            <a:endParaRPr sz="72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/>
          <p:nvPr>
            <p:ph idx="1" type="body"/>
          </p:nvPr>
        </p:nvSpPr>
        <p:spPr>
          <a:xfrm>
            <a:off x="338175" y="15497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 = 0</a:t>
            </a:r>
            <a:br>
              <a:rPr lang="pt-BR" sz="28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pt-BR" sz="28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def incrementa():</a:t>
            </a:r>
            <a:br>
              <a:rPr lang="pt-BR" sz="28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pt-BR" sz="28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return a + 1</a:t>
            </a:r>
            <a:endParaRPr sz="28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/>
          <p:nvPr>
            <p:ph idx="1" type="body"/>
          </p:nvPr>
        </p:nvSpPr>
        <p:spPr>
          <a:xfrm>
            <a:off x="4718775" y="17021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def incrementa(</a:t>
            </a: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):</a:t>
            </a:r>
            <a:b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return </a:t>
            </a: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+ 1</a:t>
            </a:r>
            <a:endParaRPr sz="2800">
              <a:solidFill>
                <a:srgbClr val="E8689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01" name="Shape 201"/>
          <p:cNvSpPr txBox="1"/>
          <p:nvPr>
            <p:ph idx="1" type="body"/>
          </p:nvPr>
        </p:nvSpPr>
        <p:spPr>
          <a:xfrm>
            <a:off x="338175" y="15497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= 0</a:t>
            </a:r>
            <a:b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def incrementa():</a:t>
            </a:r>
            <a:b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return </a:t>
            </a: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+ 1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cxnSp>
        <p:nvCxnSpPr>
          <p:cNvPr id="202" name="Shape 202"/>
          <p:cNvCxnSpPr/>
          <p:nvPr/>
        </p:nvCxnSpPr>
        <p:spPr>
          <a:xfrm flipH="1">
            <a:off x="4458575" y="1526500"/>
            <a:ext cx="11100" cy="235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8" name="Shape 208"/>
          <p:cNvSpPr txBox="1"/>
          <p:nvPr/>
        </p:nvSpPr>
        <p:spPr>
          <a:xfrm>
            <a:off x="6184325" y="511125"/>
            <a:ext cx="14937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Função</a:t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lang="pt-BR" sz="4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Pura</a:t>
            </a:r>
            <a:endParaRPr sz="4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9" name="Shape 209"/>
          <p:cNvSpPr txBox="1"/>
          <p:nvPr>
            <p:ph idx="1" type="body"/>
          </p:nvPr>
        </p:nvSpPr>
        <p:spPr>
          <a:xfrm>
            <a:off x="4718775" y="17021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def incrementa(</a:t>
            </a: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):</a:t>
            </a:r>
            <a:b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return </a:t>
            </a: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+ 1</a:t>
            </a:r>
            <a:endParaRPr sz="2800">
              <a:solidFill>
                <a:srgbClr val="E8689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10" name="Shape 210"/>
          <p:cNvSpPr txBox="1"/>
          <p:nvPr>
            <p:ph idx="1" type="body"/>
          </p:nvPr>
        </p:nvSpPr>
        <p:spPr>
          <a:xfrm>
            <a:off x="338175" y="15497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= 0</a:t>
            </a:r>
            <a:b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def incrementa():</a:t>
            </a:r>
            <a:b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return </a:t>
            </a: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+ 1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cxnSp>
        <p:nvCxnSpPr>
          <p:cNvPr id="211" name="Shape 211"/>
          <p:cNvCxnSpPr/>
          <p:nvPr/>
        </p:nvCxnSpPr>
        <p:spPr>
          <a:xfrm flipH="1">
            <a:off x="4458575" y="1526500"/>
            <a:ext cx="11100" cy="235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7" name="Shape 217"/>
          <p:cNvSpPr txBox="1"/>
          <p:nvPr/>
        </p:nvSpPr>
        <p:spPr>
          <a:xfrm>
            <a:off x="6184325" y="511125"/>
            <a:ext cx="14937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Função</a:t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lang="pt-BR" sz="4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Pura</a:t>
            </a:r>
            <a:endParaRPr sz="4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8" name="Shape 218"/>
          <p:cNvSpPr txBox="1"/>
          <p:nvPr>
            <p:ph idx="1" type="body"/>
          </p:nvPr>
        </p:nvSpPr>
        <p:spPr>
          <a:xfrm>
            <a:off x="4718775" y="17021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def incrementa(</a:t>
            </a: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):</a:t>
            </a:r>
            <a:b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return </a:t>
            </a: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+ 1</a:t>
            </a:r>
            <a:endParaRPr sz="2800">
              <a:solidFill>
                <a:srgbClr val="E8689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219" name="Shape 219"/>
          <p:cNvCxnSpPr/>
          <p:nvPr/>
        </p:nvCxnSpPr>
        <p:spPr>
          <a:xfrm flipH="1">
            <a:off x="4458575" y="1526500"/>
            <a:ext cx="11100" cy="235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5" name="Shape 225"/>
          <p:cNvSpPr txBox="1"/>
          <p:nvPr/>
        </p:nvSpPr>
        <p:spPr>
          <a:xfrm>
            <a:off x="6184325" y="511125"/>
            <a:ext cx="14937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Função</a:t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lang="pt-BR" sz="4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Pura</a:t>
            </a:r>
            <a:endParaRPr sz="4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6" name="Shape 226"/>
          <p:cNvSpPr txBox="1"/>
          <p:nvPr>
            <p:ph idx="1" type="body"/>
          </p:nvPr>
        </p:nvSpPr>
        <p:spPr>
          <a:xfrm>
            <a:off x="4718775" y="17021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def incrementa(</a:t>
            </a: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):</a:t>
            </a:r>
            <a:b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return </a:t>
            </a: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+ 1</a:t>
            </a:r>
            <a:endParaRPr sz="2800">
              <a:solidFill>
                <a:srgbClr val="E8689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227" name="Shape 227"/>
          <p:cNvCxnSpPr/>
          <p:nvPr/>
        </p:nvCxnSpPr>
        <p:spPr>
          <a:xfrm flipH="1">
            <a:off x="4458575" y="1526500"/>
            <a:ext cx="11100" cy="235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Shape 228"/>
          <p:cNvCxnSpPr/>
          <p:nvPr/>
        </p:nvCxnSpPr>
        <p:spPr>
          <a:xfrm>
            <a:off x="637625" y="2516500"/>
            <a:ext cx="3426300" cy="255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Shape 229"/>
          <p:cNvSpPr txBox="1"/>
          <p:nvPr>
            <p:ph idx="1" type="body"/>
          </p:nvPr>
        </p:nvSpPr>
        <p:spPr>
          <a:xfrm>
            <a:off x="144525" y="2144350"/>
            <a:ext cx="4225500" cy="11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lang="pt-BR" sz="2400">
                <a:solidFill>
                  <a:schemeClr val="lt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inputs</a:t>
            </a:r>
            <a:endParaRPr sz="2400">
              <a:solidFill>
                <a:schemeClr val="lt2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Code Pro"/>
              <a:buChar char="●"/>
            </a:pPr>
            <a:r>
              <a:rPr lang="pt-BR" sz="2400">
                <a:solidFill>
                  <a:srgbClr val="FFFFFF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variáveis externas</a:t>
            </a:r>
            <a:endParaRPr sz="2400">
              <a:solidFill>
                <a:srgbClr val="FFFFFF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</a:pPr>
            <a:r>
              <a:rPr lang="pt-BR" sz="24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efeitos colaterais</a:t>
            </a:r>
            <a:endParaRPr sz="24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Code Pro"/>
              <a:buChar char="●"/>
            </a:pPr>
            <a:r>
              <a:rPr lang="pt-BR" sz="24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mesmo output para mesmo input</a:t>
            </a:r>
            <a:endParaRPr sz="24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5" name="Shape 235"/>
          <p:cNvSpPr txBox="1"/>
          <p:nvPr/>
        </p:nvSpPr>
        <p:spPr>
          <a:xfrm>
            <a:off x="6184325" y="511125"/>
            <a:ext cx="14937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Função</a:t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lang="pt-BR" sz="4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Pura</a:t>
            </a:r>
            <a:endParaRPr sz="4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6" name="Shape 236"/>
          <p:cNvSpPr txBox="1"/>
          <p:nvPr>
            <p:ph idx="1" type="body"/>
          </p:nvPr>
        </p:nvSpPr>
        <p:spPr>
          <a:xfrm>
            <a:off x="4718775" y="17021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def incrementa(</a:t>
            </a: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):</a:t>
            </a:r>
            <a:b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return </a:t>
            </a: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+ 1</a:t>
            </a:r>
            <a:endParaRPr sz="2800">
              <a:solidFill>
                <a:srgbClr val="E8689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237" name="Shape 237"/>
          <p:cNvCxnSpPr/>
          <p:nvPr/>
        </p:nvCxnSpPr>
        <p:spPr>
          <a:xfrm flipH="1">
            <a:off x="4458575" y="1526500"/>
            <a:ext cx="11100" cy="235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Shape 238"/>
          <p:cNvSpPr txBox="1"/>
          <p:nvPr>
            <p:ph idx="1" type="body"/>
          </p:nvPr>
        </p:nvSpPr>
        <p:spPr>
          <a:xfrm>
            <a:off x="144525" y="2144350"/>
            <a:ext cx="4225500" cy="11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lang="pt-BR" sz="2400">
                <a:solidFill>
                  <a:schemeClr val="lt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inputs</a:t>
            </a:r>
            <a:endParaRPr sz="2400">
              <a:solidFill>
                <a:schemeClr val="lt2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Code Pro"/>
              <a:buChar char="●"/>
            </a:pPr>
            <a:r>
              <a:rPr lang="pt-BR" sz="2400">
                <a:solidFill>
                  <a:schemeClr val="lt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variáveis externas</a:t>
            </a:r>
            <a:endParaRPr sz="2400">
              <a:solidFill>
                <a:schemeClr val="lt2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</a:pPr>
            <a:r>
              <a:rPr lang="pt-BR" sz="24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efeitos colaterais</a:t>
            </a:r>
            <a:endParaRPr sz="24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Code Pro"/>
              <a:buChar char="●"/>
            </a:pPr>
            <a:r>
              <a:rPr lang="pt-BR" sz="24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mesmo output para mesmo input</a:t>
            </a:r>
            <a:endParaRPr sz="24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239" name="Shape 239"/>
          <p:cNvCxnSpPr/>
          <p:nvPr/>
        </p:nvCxnSpPr>
        <p:spPr>
          <a:xfrm>
            <a:off x="620625" y="2363450"/>
            <a:ext cx="3417600" cy="2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5" name="Shape 245"/>
          <p:cNvSpPr txBox="1"/>
          <p:nvPr/>
        </p:nvSpPr>
        <p:spPr>
          <a:xfrm>
            <a:off x="6184325" y="511125"/>
            <a:ext cx="14937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Função</a:t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lang="pt-BR" sz="4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Pura</a:t>
            </a:r>
            <a:endParaRPr sz="4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6" name="Shape 246"/>
          <p:cNvSpPr txBox="1"/>
          <p:nvPr>
            <p:ph idx="1" type="body"/>
          </p:nvPr>
        </p:nvSpPr>
        <p:spPr>
          <a:xfrm>
            <a:off x="4718775" y="17021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def incrementa(</a:t>
            </a: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):</a:t>
            </a:r>
            <a:b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return </a:t>
            </a: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+ 1</a:t>
            </a:r>
            <a:endParaRPr sz="2800">
              <a:solidFill>
                <a:srgbClr val="E8689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247" name="Shape 247"/>
          <p:cNvCxnSpPr/>
          <p:nvPr/>
        </p:nvCxnSpPr>
        <p:spPr>
          <a:xfrm flipH="1">
            <a:off x="4458575" y="1526500"/>
            <a:ext cx="11100" cy="235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" name="Shape 248"/>
          <p:cNvSpPr txBox="1"/>
          <p:nvPr>
            <p:ph idx="1" type="body"/>
          </p:nvPr>
        </p:nvSpPr>
        <p:spPr>
          <a:xfrm>
            <a:off x="4718775" y="1930775"/>
            <a:ext cx="2244600" cy="6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var z = 0</a:t>
            </a:r>
            <a:endParaRPr sz="2800">
              <a:solidFill>
                <a:srgbClr val="E8689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49" name="Shape 249"/>
          <p:cNvSpPr txBox="1"/>
          <p:nvPr>
            <p:ph idx="1" type="body"/>
          </p:nvPr>
        </p:nvSpPr>
        <p:spPr>
          <a:xfrm>
            <a:off x="144525" y="2144350"/>
            <a:ext cx="4225500" cy="11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lang="pt-BR" sz="2400">
                <a:solidFill>
                  <a:schemeClr val="lt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inputs</a:t>
            </a:r>
            <a:endParaRPr sz="2400">
              <a:solidFill>
                <a:schemeClr val="lt2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Code Pro"/>
              <a:buChar char="●"/>
            </a:pPr>
            <a:r>
              <a:rPr lang="pt-BR" sz="2400">
                <a:solidFill>
                  <a:schemeClr val="lt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variáveis externas</a:t>
            </a:r>
            <a:endParaRPr sz="2400">
              <a:solidFill>
                <a:schemeClr val="lt2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</a:pPr>
            <a:r>
              <a:rPr lang="pt-BR" sz="24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efeitos colaterais</a:t>
            </a:r>
            <a:endParaRPr sz="24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Code Pro"/>
              <a:buChar char="●"/>
            </a:pPr>
            <a:r>
              <a:rPr lang="pt-BR" sz="24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mesmo output para mesmo input</a:t>
            </a:r>
            <a:endParaRPr sz="24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250" name="Shape 250"/>
          <p:cNvCxnSpPr/>
          <p:nvPr/>
        </p:nvCxnSpPr>
        <p:spPr>
          <a:xfrm>
            <a:off x="620625" y="2363450"/>
            <a:ext cx="3417600" cy="2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6" name="Shape 256"/>
          <p:cNvSpPr txBox="1"/>
          <p:nvPr/>
        </p:nvSpPr>
        <p:spPr>
          <a:xfrm>
            <a:off x="6184325" y="511125"/>
            <a:ext cx="14937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Função</a:t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lang="pt-BR" sz="4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Pura</a:t>
            </a:r>
            <a:endParaRPr sz="4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7" name="Shape 257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Shape 258"/>
          <p:cNvSpPr txBox="1"/>
          <p:nvPr>
            <p:ph idx="1" type="body"/>
          </p:nvPr>
        </p:nvSpPr>
        <p:spPr>
          <a:xfrm>
            <a:off x="4718775" y="17021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def incrementa(</a:t>
            </a: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):</a:t>
            </a:r>
            <a:b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return </a:t>
            </a: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+ 1</a:t>
            </a:r>
            <a:endParaRPr sz="2800">
              <a:solidFill>
                <a:srgbClr val="E8689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59" name="Shape 259"/>
          <p:cNvSpPr txBox="1"/>
          <p:nvPr/>
        </p:nvSpPr>
        <p:spPr>
          <a:xfrm>
            <a:off x="7218375" y="-28850"/>
            <a:ext cx="1493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Pure Function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260" name="Shape 260"/>
          <p:cNvCxnSpPr/>
          <p:nvPr/>
        </p:nvCxnSpPr>
        <p:spPr>
          <a:xfrm flipH="1">
            <a:off x="4458575" y="1526500"/>
            <a:ext cx="11100" cy="235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hape 261"/>
          <p:cNvSpPr txBox="1"/>
          <p:nvPr>
            <p:ph idx="1" type="body"/>
          </p:nvPr>
        </p:nvSpPr>
        <p:spPr>
          <a:xfrm>
            <a:off x="4718775" y="1930775"/>
            <a:ext cx="2244600" cy="6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var z = 0</a:t>
            </a:r>
            <a:endParaRPr sz="2800">
              <a:solidFill>
                <a:srgbClr val="E8689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62" name="Shape 262"/>
          <p:cNvSpPr txBox="1"/>
          <p:nvPr>
            <p:ph idx="1" type="body"/>
          </p:nvPr>
        </p:nvSpPr>
        <p:spPr>
          <a:xfrm>
            <a:off x="144525" y="2144350"/>
            <a:ext cx="4225500" cy="11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lang="pt-BR" sz="2400">
                <a:solidFill>
                  <a:schemeClr val="lt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inputs</a:t>
            </a:r>
            <a:endParaRPr sz="2400">
              <a:solidFill>
                <a:schemeClr val="lt2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Code Pro"/>
              <a:buChar char="●"/>
            </a:pPr>
            <a:r>
              <a:rPr lang="pt-BR" sz="2400">
                <a:solidFill>
                  <a:schemeClr val="lt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variáveis externas</a:t>
            </a:r>
            <a:endParaRPr sz="2400">
              <a:solidFill>
                <a:schemeClr val="lt2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lang="pt-BR" sz="24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efeitos colaterais</a:t>
            </a:r>
            <a:endParaRPr sz="24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Code Pro"/>
              <a:buChar char="●"/>
            </a:pPr>
            <a:r>
              <a:rPr lang="pt-BR" sz="24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mesma saída para mesma entrada</a:t>
            </a:r>
            <a:endParaRPr sz="24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263" name="Shape 263"/>
          <p:cNvCxnSpPr/>
          <p:nvPr/>
        </p:nvCxnSpPr>
        <p:spPr>
          <a:xfrm>
            <a:off x="620625" y="2363450"/>
            <a:ext cx="3417600" cy="2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Shape 264"/>
          <p:cNvCxnSpPr/>
          <p:nvPr/>
        </p:nvCxnSpPr>
        <p:spPr>
          <a:xfrm>
            <a:off x="620625" y="2744450"/>
            <a:ext cx="3417600" cy="2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0" name="Shape 270"/>
          <p:cNvSpPr txBox="1"/>
          <p:nvPr/>
        </p:nvSpPr>
        <p:spPr>
          <a:xfrm>
            <a:off x="6184325" y="511125"/>
            <a:ext cx="14937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Função</a:t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lang="pt-BR" sz="4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Pura</a:t>
            </a:r>
            <a:endParaRPr sz="4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71" name="Shape 271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Shape 272"/>
          <p:cNvSpPr txBox="1"/>
          <p:nvPr>
            <p:ph idx="1" type="body"/>
          </p:nvPr>
        </p:nvSpPr>
        <p:spPr>
          <a:xfrm>
            <a:off x="4718775" y="17021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def incrementa(</a:t>
            </a: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):</a:t>
            </a:r>
            <a:b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return </a:t>
            </a: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+ 1</a:t>
            </a:r>
            <a:endParaRPr sz="2800">
              <a:solidFill>
                <a:srgbClr val="E8689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3" name="Shape 273"/>
          <p:cNvSpPr txBox="1"/>
          <p:nvPr/>
        </p:nvSpPr>
        <p:spPr>
          <a:xfrm>
            <a:off x="7218375" y="-28850"/>
            <a:ext cx="1493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Pure Function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274" name="Shape 274"/>
          <p:cNvCxnSpPr/>
          <p:nvPr/>
        </p:nvCxnSpPr>
        <p:spPr>
          <a:xfrm flipH="1">
            <a:off x="4458575" y="1526500"/>
            <a:ext cx="11100" cy="235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Shape 275"/>
          <p:cNvSpPr txBox="1"/>
          <p:nvPr>
            <p:ph idx="1" type="body"/>
          </p:nvPr>
        </p:nvSpPr>
        <p:spPr>
          <a:xfrm>
            <a:off x="4718775" y="1930775"/>
            <a:ext cx="2244600" cy="6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var z = 0</a:t>
            </a:r>
            <a:endParaRPr sz="2800">
              <a:solidFill>
                <a:srgbClr val="E8689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6" name="Shape 276"/>
          <p:cNvSpPr txBox="1"/>
          <p:nvPr>
            <p:ph idx="1" type="body"/>
          </p:nvPr>
        </p:nvSpPr>
        <p:spPr>
          <a:xfrm>
            <a:off x="144525" y="2144350"/>
            <a:ext cx="4225500" cy="11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lang="pt-BR" sz="2400">
                <a:solidFill>
                  <a:schemeClr val="lt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inputs</a:t>
            </a:r>
            <a:endParaRPr sz="2400">
              <a:solidFill>
                <a:schemeClr val="lt2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Code Pro"/>
              <a:buChar char="●"/>
            </a:pPr>
            <a:r>
              <a:rPr lang="pt-BR" sz="2400">
                <a:solidFill>
                  <a:schemeClr val="lt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variáveis externas</a:t>
            </a:r>
            <a:endParaRPr sz="2400">
              <a:solidFill>
                <a:schemeClr val="lt2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lang="pt-BR" sz="24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efeitos colaterais</a:t>
            </a:r>
            <a:endParaRPr sz="24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Code Pro"/>
              <a:buChar char="●"/>
            </a:pPr>
            <a:r>
              <a:rPr lang="pt-BR" sz="24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mesma saída para mesma entrada</a:t>
            </a:r>
            <a:endParaRPr sz="24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277" name="Shape 277"/>
          <p:cNvCxnSpPr/>
          <p:nvPr/>
        </p:nvCxnSpPr>
        <p:spPr>
          <a:xfrm>
            <a:off x="620625" y="2363450"/>
            <a:ext cx="3417600" cy="2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Shape 278"/>
          <p:cNvCxnSpPr/>
          <p:nvPr/>
        </p:nvCxnSpPr>
        <p:spPr>
          <a:xfrm>
            <a:off x="620625" y="2744450"/>
            <a:ext cx="3417600" cy="2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4" name="Shape 284"/>
          <p:cNvSpPr txBox="1"/>
          <p:nvPr/>
        </p:nvSpPr>
        <p:spPr>
          <a:xfrm>
            <a:off x="6184325" y="511125"/>
            <a:ext cx="14937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Função</a:t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lang="pt-BR" sz="4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Pura</a:t>
            </a:r>
            <a:endParaRPr sz="4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85" name="Shape 285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Shape 286"/>
          <p:cNvSpPr txBox="1"/>
          <p:nvPr>
            <p:ph idx="1" type="body"/>
          </p:nvPr>
        </p:nvSpPr>
        <p:spPr>
          <a:xfrm>
            <a:off x="4718775" y="17021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def incrementa(</a:t>
            </a: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):</a:t>
            </a:r>
            <a:b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return </a:t>
            </a:r>
            <a:r>
              <a:rPr b="1"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pt-BR" sz="2800">
                <a:solidFill>
                  <a:schemeClr val="dk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+ 1</a:t>
            </a:r>
            <a:endParaRPr sz="2800">
              <a:solidFill>
                <a:srgbClr val="E8689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87" name="Shape 287"/>
          <p:cNvSpPr txBox="1"/>
          <p:nvPr/>
        </p:nvSpPr>
        <p:spPr>
          <a:xfrm>
            <a:off x="7218375" y="-28850"/>
            <a:ext cx="1493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Pure Function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288" name="Shape 288"/>
          <p:cNvCxnSpPr/>
          <p:nvPr/>
        </p:nvCxnSpPr>
        <p:spPr>
          <a:xfrm flipH="1">
            <a:off x="4458575" y="1526500"/>
            <a:ext cx="11100" cy="235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Shape 289"/>
          <p:cNvSpPr txBox="1"/>
          <p:nvPr>
            <p:ph idx="1" type="body"/>
          </p:nvPr>
        </p:nvSpPr>
        <p:spPr>
          <a:xfrm>
            <a:off x="4718775" y="1930775"/>
            <a:ext cx="2244600" cy="6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var z = 0</a:t>
            </a:r>
            <a:endParaRPr sz="2800">
              <a:solidFill>
                <a:srgbClr val="E8689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90" name="Shape 290"/>
          <p:cNvSpPr txBox="1"/>
          <p:nvPr>
            <p:ph idx="1" type="body"/>
          </p:nvPr>
        </p:nvSpPr>
        <p:spPr>
          <a:xfrm>
            <a:off x="144525" y="2144350"/>
            <a:ext cx="4225500" cy="11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lang="pt-BR" sz="2400">
                <a:solidFill>
                  <a:schemeClr val="lt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inputs</a:t>
            </a:r>
            <a:endParaRPr sz="2400">
              <a:solidFill>
                <a:schemeClr val="lt2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Code Pro"/>
              <a:buChar char="●"/>
            </a:pPr>
            <a:r>
              <a:rPr lang="pt-BR" sz="2400">
                <a:solidFill>
                  <a:schemeClr val="lt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variáveis externas</a:t>
            </a:r>
            <a:endParaRPr sz="2400">
              <a:solidFill>
                <a:schemeClr val="lt2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lang="pt-BR" sz="24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efeitos colaterais</a:t>
            </a:r>
            <a:endParaRPr sz="24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Code Pro"/>
              <a:buChar char="●"/>
            </a:pPr>
            <a:r>
              <a:rPr lang="pt-BR" sz="24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mesma saída para mesma entrada</a:t>
            </a:r>
            <a:endParaRPr sz="24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291" name="Shape 291"/>
          <p:cNvCxnSpPr/>
          <p:nvPr/>
        </p:nvCxnSpPr>
        <p:spPr>
          <a:xfrm>
            <a:off x="620625" y="2363450"/>
            <a:ext cx="3417600" cy="2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Shape 292"/>
          <p:cNvCxnSpPr/>
          <p:nvPr/>
        </p:nvCxnSpPr>
        <p:spPr>
          <a:xfrm>
            <a:off x="620625" y="2744450"/>
            <a:ext cx="3417600" cy="2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Shape 293"/>
          <p:cNvSpPr txBox="1"/>
          <p:nvPr>
            <p:ph idx="1" type="body"/>
          </p:nvPr>
        </p:nvSpPr>
        <p:spPr>
          <a:xfrm>
            <a:off x="4794975" y="3759575"/>
            <a:ext cx="4097700" cy="12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86891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incrementa(1) -&gt; 2</a:t>
            </a:r>
            <a:endParaRPr sz="1800">
              <a:solidFill>
                <a:srgbClr val="E86891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86891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incrementa(1) -&gt; 2</a:t>
            </a:r>
            <a:endParaRPr sz="1800">
              <a:solidFill>
                <a:srgbClr val="E86891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86891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incrementa(1) -&gt; 2</a:t>
            </a:r>
            <a:endParaRPr sz="1800">
              <a:solidFill>
                <a:srgbClr val="E86891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86891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/>
          <p:nvPr/>
        </p:nvSpPr>
        <p:spPr>
          <a:xfrm>
            <a:off x="1921775" y="583275"/>
            <a:ext cx="1886700" cy="180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9" name="Shape 299"/>
          <p:cNvSpPr txBox="1"/>
          <p:nvPr/>
        </p:nvSpPr>
        <p:spPr>
          <a:xfrm>
            <a:off x="2091100" y="970850"/>
            <a:ext cx="16533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Funções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Puras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304"/>
          <p:cNvSpPr/>
          <p:nvPr/>
        </p:nvSpPr>
        <p:spPr>
          <a:xfrm>
            <a:off x="1921775" y="583275"/>
            <a:ext cx="1886700" cy="180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5" name="Shape 305"/>
          <p:cNvSpPr/>
          <p:nvPr/>
        </p:nvSpPr>
        <p:spPr>
          <a:xfrm>
            <a:off x="5106375" y="583275"/>
            <a:ext cx="1886700" cy="18081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6" name="Shape 306"/>
          <p:cNvSpPr txBox="1"/>
          <p:nvPr/>
        </p:nvSpPr>
        <p:spPr>
          <a:xfrm>
            <a:off x="5331175" y="881000"/>
            <a:ext cx="14937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Imutabilidade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07" name="Shape 307"/>
          <p:cNvSpPr txBox="1"/>
          <p:nvPr/>
        </p:nvSpPr>
        <p:spPr>
          <a:xfrm>
            <a:off x="2091100" y="970850"/>
            <a:ext cx="16533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Funções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Puras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/>
          <p:nvPr/>
        </p:nvSpPr>
        <p:spPr>
          <a:xfrm>
            <a:off x="2031900" y="824876"/>
            <a:ext cx="3784500" cy="39360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313" name="Shape 313"/>
          <p:cNvSpPr txBox="1"/>
          <p:nvPr/>
        </p:nvSpPr>
        <p:spPr>
          <a:xfrm>
            <a:off x="2125725" y="2207350"/>
            <a:ext cx="3723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Imutabilidade</a:t>
            </a:r>
            <a:endParaRPr sz="52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14" name="Shape 314"/>
          <p:cNvSpPr/>
          <p:nvPr/>
        </p:nvSpPr>
        <p:spPr>
          <a:xfrm>
            <a:off x="6745600" y="4312825"/>
            <a:ext cx="2180700" cy="6363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Shape 315"/>
          <p:cNvSpPr txBox="1"/>
          <p:nvPr/>
        </p:nvSpPr>
        <p:spPr>
          <a:xfrm>
            <a:off x="6729150" y="4312825"/>
            <a:ext cx="19509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Immutability</a:t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 txBox="1"/>
          <p:nvPr>
            <p:ph idx="1" type="body"/>
          </p:nvPr>
        </p:nvSpPr>
        <p:spPr>
          <a:xfrm>
            <a:off x="338175" y="15497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var x = 1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x = x + 1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325"/>
          <p:cNvSpPr txBox="1"/>
          <p:nvPr>
            <p:ph idx="1" type="body"/>
          </p:nvPr>
        </p:nvSpPr>
        <p:spPr>
          <a:xfrm>
            <a:off x="338175" y="15497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var x = 1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x = x + 1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cxnSp>
        <p:nvCxnSpPr>
          <p:cNvPr id="326" name="Shape 326"/>
          <p:cNvCxnSpPr/>
          <p:nvPr/>
        </p:nvCxnSpPr>
        <p:spPr>
          <a:xfrm flipH="1" rot="10800000">
            <a:off x="340075" y="2780200"/>
            <a:ext cx="2210400" cy="314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Shape 327"/>
          <p:cNvCxnSpPr>
            <a:stCxn id="325" idx="1"/>
          </p:cNvCxnSpPr>
          <p:nvPr/>
        </p:nvCxnSpPr>
        <p:spPr>
          <a:xfrm>
            <a:off x="338175" y="2799575"/>
            <a:ext cx="2101800" cy="303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Shape 328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9" name="Shape 329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Shape 330"/>
          <p:cNvSpPr txBox="1"/>
          <p:nvPr/>
        </p:nvSpPr>
        <p:spPr>
          <a:xfrm>
            <a:off x="7218375" y="-28850"/>
            <a:ext cx="145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Immutability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31" name="Shape 331"/>
          <p:cNvSpPr txBox="1"/>
          <p:nvPr/>
        </p:nvSpPr>
        <p:spPr>
          <a:xfrm>
            <a:off x="5908325" y="7165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Imutabilidade</a:t>
            </a:r>
            <a:endParaRPr sz="29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336"/>
          <p:cNvSpPr txBox="1"/>
          <p:nvPr>
            <p:ph idx="1" type="body"/>
          </p:nvPr>
        </p:nvSpPr>
        <p:spPr>
          <a:xfrm>
            <a:off x="338175" y="15497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var x = 1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x = x + 1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cxnSp>
        <p:nvCxnSpPr>
          <p:cNvPr id="337" name="Shape 337"/>
          <p:cNvCxnSpPr/>
          <p:nvPr/>
        </p:nvCxnSpPr>
        <p:spPr>
          <a:xfrm flipH="1" rot="10800000">
            <a:off x="340075" y="2780200"/>
            <a:ext cx="2210400" cy="314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Shape 338"/>
          <p:cNvCxnSpPr>
            <a:stCxn id="336" idx="1"/>
          </p:cNvCxnSpPr>
          <p:nvPr/>
        </p:nvCxnSpPr>
        <p:spPr>
          <a:xfrm>
            <a:off x="338175" y="2799575"/>
            <a:ext cx="2101800" cy="303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" name="Shape 339"/>
          <p:cNvSpPr txBox="1"/>
          <p:nvPr>
            <p:ph idx="1" type="body"/>
          </p:nvPr>
        </p:nvSpPr>
        <p:spPr>
          <a:xfrm>
            <a:off x="4718775" y="13973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accent5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var x = 1</a:t>
            </a:r>
            <a:endParaRPr sz="2800">
              <a:solidFill>
                <a:schemeClr val="accent5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chemeClr val="accent5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var z = x + 1</a:t>
            </a:r>
            <a:endParaRPr sz="2800">
              <a:solidFill>
                <a:schemeClr val="accent5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340" name="Shape 340"/>
          <p:cNvCxnSpPr/>
          <p:nvPr/>
        </p:nvCxnSpPr>
        <p:spPr>
          <a:xfrm flipH="1">
            <a:off x="4458575" y="1526500"/>
            <a:ext cx="11100" cy="235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Shape 341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2" name="Shape 342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Shape 343"/>
          <p:cNvSpPr txBox="1"/>
          <p:nvPr/>
        </p:nvSpPr>
        <p:spPr>
          <a:xfrm>
            <a:off x="7218375" y="-28850"/>
            <a:ext cx="145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Immutability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44" name="Shape 344"/>
          <p:cNvSpPr txBox="1"/>
          <p:nvPr/>
        </p:nvSpPr>
        <p:spPr>
          <a:xfrm>
            <a:off x="5908325" y="7165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Imutabilidade</a:t>
            </a:r>
            <a:endParaRPr sz="29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0" name="Shape 350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Shape 351"/>
          <p:cNvSpPr txBox="1"/>
          <p:nvPr/>
        </p:nvSpPr>
        <p:spPr>
          <a:xfrm>
            <a:off x="7218375" y="-28850"/>
            <a:ext cx="145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Immutability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2" name="Shape 352"/>
          <p:cNvSpPr txBox="1"/>
          <p:nvPr/>
        </p:nvSpPr>
        <p:spPr>
          <a:xfrm>
            <a:off x="5908325" y="7165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Imutabilidade</a:t>
            </a:r>
            <a:endParaRPr sz="29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3" name="Shape 353"/>
          <p:cNvSpPr txBox="1"/>
          <p:nvPr>
            <p:ph idx="1" type="body"/>
          </p:nvPr>
        </p:nvSpPr>
        <p:spPr>
          <a:xfrm>
            <a:off x="338175" y="15497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"T"]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lista[0] = "C"</a:t>
            </a:r>
            <a:endParaRPr sz="28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358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9" name="Shape 359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Shape 360"/>
          <p:cNvSpPr txBox="1"/>
          <p:nvPr/>
        </p:nvSpPr>
        <p:spPr>
          <a:xfrm>
            <a:off x="7218375" y="-28850"/>
            <a:ext cx="145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Immutability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1" name="Shape 361"/>
          <p:cNvSpPr txBox="1"/>
          <p:nvPr/>
        </p:nvSpPr>
        <p:spPr>
          <a:xfrm>
            <a:off x="5908325" y="7165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Imutabilidade</a:t>
            </a:r>
            <a:endParaRPr sz="29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2" name="Shape 362"/>
          <p:cNvSpPr txBox="1"/>
          <p:nvPr>
            <p:ph idx="1" type="body"/>
          </p:nvPr>
        </p:nvSpPr>
        <p:spPr>
          <a:xfrm>
            <a:off x="338175" y="15497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"T"]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lista[0] = "C"</a:t>
            </a:r>
            <a:endParaRPr sz="28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63" name="Shape 363"/>
          <p:cNvSpPr txBox="1"/>
          <p:nvPr>
            <p:ph idx="1" type="body"/>
          </p:nvPr>
        </p:nvSpPr>
        <p:spPr>
          <a:xfrm>
            <a:off x="2088550" y="1702175"/>
            <a:ext cx="2502000" cy="54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000000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0    1</a:t>
            </a:r>
            <a:endParaRPr sz="2800">
              <a:solidFill>
                <a:srgbClr val="000000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9" name="Shape 369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Shape 370"/>
          <p:cNvSpPr txBox="1"/>
          <p:nvPr/>
        </p:nvSpPr>
        <p:spPr>
          <a:xfrm>
            <a:off x="7218375" y="-28850"/>
            <a:ext cx="145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Immutability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71" name="Shape 371"/>
          <p:cNvSpPr txBox="1"/>
          <p:nvPr/>
        </p:nvSpPr>
        <p:spPr>
          <a:xfrm>
            <a:off x="5908325" y="7165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Imutabilidade</a:t>
            </a:r>
            <a:endParaRPr sz="29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72" name="Shape 372"/>
          <p:cNvSpPr txBox="1"/>
          <p:nvPr>
            <p:ph idx="1" type="body"/>
          </p:nvPr>
        </p:nvSpPr>
        <p:spPr>
          <a:xfrm>
            <a:off x="338175" y="15497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</a:t>
            </a:r>
            <a:r>
              <a:rPr lang="pt-BR" sz="2800">
                <a:solidFill>
                  <a:schemeClr val="accent5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T</a:t>
            </a: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"]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lista[0] = "C"</a:t>
            </a:r>
            <a:endParaRPr sz="28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73" name="Shape 373"/>
          <p:cNvSpPr txBox="1"/>
          <p:nvPr>
            <p:ph idx="1" type="body"/>
          </p:nvPr>
        </p:nvSpPr>
        <p:spPr>
          <a:xfrm>
            <a:off x="2088550" y="1702175"/>
            <a:ext cx="2502000" cy="54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000000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0    1</a:t>
            </a:r>
            <a:endParaRPr sz="2800">
              <a:solidFill>
                <a:srgbClr val="000000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378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9" name="Shape 379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Shape 380"/>
          <p:cNvSpPr txBox="1"/>
          <p:nvPr/>
        </p:nvSpPr>
        <p:spPr>
          <a:xfrm>
            <a:off x="7218375" y="-28850"/>
            <a:ext cx="145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Immutability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81" name="Shape 381"/>
          <p:cNvSpPr txBox="1"/>
          <p:nvPr/>
        </p:nvSpPr>
        <p:spPr>
          <a:xfrm>
            <a:off x="5908325" y="7165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Imutabilidade</a:t>
            </a:r>
            <a:endParaRPr sz="29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82" name="Shape 382"/>
          <p:cNvSpPr txBox="1"/>
          <p:nvPr>
            <p:ph idx="1" type="body"/>
          </p:nvPr>
        </p:nvSpPr>
        <p:spPr>
          <a:xfrm>
            <a:off x="338175" y="15497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</a:t>
            </a:r>
            <a:r>
              <a:rPr lang="pt-BR" sz="2800">
                <a:solidFill>
                  <a:schemeClr val="accent5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T</a:t>
            </a: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"]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lista[</a:t>
            </a:r>
            <a:r>
              <a:rPr lang="pt-BR" sz="2800">
                <a:solidFill>
                  <a:srgbClr val="000000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] = "</a:t>
            </a:r>
            <a:r>
              <a:rPr lang="pt-BR" sz="2800">
                <a:solidFill>
                  <a:schemeClr val="accent5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C</a:t>
            </a: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83" name="Shape 383"/>
          <p:cNvSpPr txBox="1"/>
          <p:nvPr>
            <p:ph idx="1" type="body"/>
          </p:nvPr>
        </p:nvSpPr>
        <p:spPr>
          <a:xfrm>
            <a:off x="2088550" y="1702175"/>
            <a:ext cx="2502000" cy="54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000000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0    1</a:t>
            </a:r>
            <a:endParaRPr sz="2800">
              <a:solidFill>
                <a:srgbClr val="000000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Shape 388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9" name="Shape 389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Shape 390"/>
          <p:cNvSpPr txBox="1"/>
          <p:nvPr/>
        </p:nvSpPr>
        <p:spPr>
          <a:xfrm>
            <a:off x="7218375" y="-28850"/>
            <a:ext cx="145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Immutability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91" name="Shape 391"/>
          <p:cNvSpPr txBox="1"/>
          <p:nvPr/>
        </p:nvSpPr>
        <p:spPr>
          <a:xfrm>
            <a:off x="5908325" y="7165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Imutabilidade</a:t>
            </a:r>
            <a:endParaRPr sz="29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92" name="Shape 392"/>
          <p:cNvSpPr txBox="1"/>
          <p:nvPr>
            <p:ph idx="1" type="body"/>
          </p:nvPr>
        </p:nvSpPr>
        <p:spPr>
          <a:xfrm>
            <a:off x="338175" y="15497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"T"]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lista[0] = "C"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393" name="Shape 393"/>
          <p:cNvCxnSpPr/>
          <p:nvPr/>
        </p:nvCxnSpPr>
        <p:spPr>
          <a:xfrm flipH="1" rot="10800000">
            <a:off x="340075" y="2958425"/>
            <a:ext cx="3137100" cy="289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Shape 394"/>
          <p:cNvCxnSpPr/>
          <p:nvPr/>
        </p:nvCxnSpPr>
        <p:spPr>
          <a:xfrm>
            <a:off x="374075" y="2975575"/>
            <a:ext cx="3052200" cy="263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" name="Shape 395"/>
          <p:cNvSpPr txBox="1"/>
          <p:nvPr>
            <p:ph idx="1" type="body"/>
          </p:nvPr>
        </p:nvSpPr>
        <p:spPr>
          <a:xfrm>
            <a:off x="4522875" y="1691525"/>
            <a:ext cx="4752300" cy="22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accent5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lista2 = new []</a:t>
            </a:r>
            <a:endParaRPr sz="2800">
              <a:solidFill>
                <a:schemeClr val="accent5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t/>
            </a:r>
            <a:endParaRPr sz="2800">
              <a:solidFill>
                <a:schemeClr val="accent5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396" name="Shape 396"/>
          <p:cNvCxnSpPr/>
          <p:nvPr/>
        </p:nvCxnSpPr>
        <p:spPr>
          <a:xfrm flipH="1">
            <a:off x="4458575" y="1526500"/>
            <a:ext cx="11100" cy="235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401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2" name="Shape 402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Shape 403"/>
          <p:cNvSpPr txBox="1"/>
          <p:nvPr/>
        </p:nvSpPr>
        <p:spPr>
          <a:xfrm>
            <a:off x="7218375" y="-28850"/>
            <a:ext cx="145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Immutability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04" name="Shape 404"/>
          <p:cNvSpPr txBox="1"/>
          <p:nvPr/>
        </p:nvSpPr>
        <p:spPr>
          <a:xfrm>
            <a:off x="5908325" y="7165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Imutabilidade</a:t>
            </a:r>
            <a:endParaRPr sz="29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05" name="Shape 405"/>
          <p:cNvSpPr txBox="1"/>
          <p:nvPr>
            <p:ph idx="1" type="body"/>
          </p:nvPr>
        </p:nvSpPr>
        <p:spPr>
          <a:xfrm>
            <a:off x="338175" y="15497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"T"]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lista[0] = "C"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406" name="Shape 406"/>
          <p:cNvCxnSpPr/>
          <p:nvPr/>
        </p:nvCxnSpPr>
        <p:spPr>
          <a:xfrm flipH="1" rot="10800000">
            <a:off x="340075" y="2958425"/>
            <a:ext cx="3137100" cy="289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Shape 407"/>
          <p:cNvCxnSpPr/>
          <p:nvPr/>
        </p:nvCxnSpPr>
        <p:spPr>
          <a:xfrm>
            <a:off x="374075" y="2975575"/>
            <a:ext cx="3052200" cy="263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Shape 408"/>
          <p:cNvSpPr txBox="1"/>
          <p:nvPr>
            <p:ph idx="1" type="body"/>
          </p:nvPr>
        </p:nvSpPr>
        <p:spPr>
          <a:xfrm>
            <a:off x="4522875" y="1691525"/>
            <a:ext cx="4752300" cy="22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accent5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lista2 = new []</a:t>
            </a:r>
            <a:endParaRPr sz="2800">
              <a:solidFill>
                <a:schemeClr val="accent5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chemeClr val="accent5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lista2 = ["S"]</a:t>
            </a:r>
            <a:endParaRPr sz="2800">
              <a:solidFill>
                <a:schemeClr val="accent5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409" name="Shape 409"/>
          <p:cNvCxnSpPr/>
          <p:nvPr/>
        </p:nvCxnSpPr>
        <p:spPr>
          <a:xfrm flipH="1">
            <a:off x="4458575" y="1526500"/>
            <a:ext cx="11100" cy="235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Shape 414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5" name="Shape 415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Shape 416"/>
          <p:cNvSpPr txBox="1"/>
          <p:nvPr/>
        </p:nvSpPr>
        <p:spPr>
          <a:xfrm>
            <a:off x="7218375" y="-28850"/>
            <a:ext cx="145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Immutability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17" name="Shape 417"/>
          <p:cNvSpPr txBox="1"/>
          <p:nvPr/>
        </p:nvSpPr>
        <p:spPr>
          <a:xfrm>
            <a:off x="5908325" y="7165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Imutabilidade</a:t>
            </a:r>
            <a:endParaRPr sz="29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18" name="Shape 418"/>
          <p:cNvSpPr txBox="1"/>
          <p:nvPr>
            <p:ph idx="1" type="body"/>
          </p:nvPr>
        </p:nvSpPr>
        <p:spPr>
          <a:xfrm>
            <a:off x="338175" y="1549775"/>
            <a:ext cx="4312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"T"]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lista[0] = "C"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419" name="Shape 419"/>
          <p:cNvCxnSpPr/>
          <p:nvPr/>
        </p:nvCxnSpPr>
        <p:spPr>
          <a:xfrm flipH="1" rot="10800000">
            <a:off x="340075" y="2958425"/>
            <a:ext cx="3137100" cy="289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Shape 420"/>
          <p:cNvCxnSpPr/>
          <p:nvPr/>
        </p:nvCxnSpPr>
        <p:spPr>
          <a:xfrm>
            <a:off x="374075" y="2975575"/>
            <a:ext cx="3052200" cy="263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Shape 421"/>
          <p:cNvSpPr txBox="1"/>
          <p:nvPr>
            <p:ph idx="1" type="body"/>
          </p:nvPr>
        </p:nvSpPr>
        <p:spPr>
          <a:xfrm>
            <a:off x="4522875" y="1691525"/>
            <a:ext cx="4752300" cy="22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accent5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lista2 = </a:t>
            </a:r>
            <a:r>
              <a:rPr lang="pt-BR" sz="2800">
                <a:solidFill>
                  <a:schemeClr val="accent5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new </a:t>
            </a:r>
            <a:r>
              <a:rPr lang="pt-BR" sz="2800">
                <a:solidFill>
                  <a:schemeClr val="accent5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[]</a:t>
            </a:r>
            <a:endParaRPr sz="2800">
              <a:solidFill>
                <a:schemeClr val="accent5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chemeClr val="accent5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lista2 = ["S", "C"]</a:t>
            </a:r>
            <a:endParaRPr sz="2800">
              <a:solidFill>
                <a:schemeClr val="accent5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422" name="Shape 422"/>
          <p:cNvCxnSpPr/>
          <p:nvPr/>
        </p:nvCxnSpPr>
        <p:spPr>
          <a:xfrm flipH="1">
            <a:off x="4458575" y="1526500"/>
            <a:ext cx="11100" cy="235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Shape 427"/>
          <p:cNvSpPr/>
          <p:nvPr/>
        </p:nvSpPr>
        <p:spPr>
          <a:xfrm>
            <a:off x="1921775" y="583275"/>
            <a:ext cx="1886700" cy="180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8" name="Shape 428"/>
          <p:cNvSpPr txBox="1"/>
          <p:nvPr/>
        </p:nvSpPr>
        <p:spPr>
          <a:xfrm>
            <a:off x="2091100" y="970850"/>
            <a:ext cx="16533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Funções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Puras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433"/>
          <p:cNvSpPr/>
          <p:nvPr/>
        </p:nvSpPr>
        <p:spPr>
          <a:xfrm>
            <a:off x="1921775" y="583275"/>
            <a:ext cx="1886700" cy="180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4" name="Shape 434"/>
          <p:cNvSpPr/>
          <p:nvPr/>
        </p:nvSpPr>
        <p:spPr>
          <a:xfrm>
            <a:off x="5106375" y="583275"/>
            <a:ext cx="1886700" cy="18081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5" name="Shape 435"/>
          <p:cNvSpPr txBox="1"/>
          <p:nvPr/>
        </p:nvSpPr>
        <p:spPr>
          <a:xfrm>
            <a:off x="5331175" y="881000"/>
            <a:ext cx="14937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Imutabilidade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36" name="Shape 436"/>
          <p:cNvSpPr txBox="1"/>
          <p:nvPr/>
        </p:nvSpPr>
        <p:spPr>
          <a:xfrm>
            <a:off x="2091100" y="970850"/>
            <a:ext cx="16533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Funções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Puras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hape 441"/>
          <p:cNvSpPr/>
          <p:nvPr/>
        </p:nvSpPr>
        <p:spPr>
          <a:xfrm>
            <a:off x="1921775" y="583275"/>
            <a:ext cx="1886700" cy="180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2" name="Shape 442"/>
          <p:cNvSpPr/>
          <p:nvPr/>
        </p:nvSpPr>
        <p:spPr>
          <a:xfrm>
            <a:off x="5106375" y="583275"/>
            <a:ext cx="1886700" cy="18081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3" name="Shape 443"/>
          <p:cNvSpPr txBox="1"/>
          <p:nvPr/>
        </p:nvSpPr>
        <p:spPr>
          <a:xfrm>
            <a:off x="5331175" y="881000"/>
            <a:ext cx="14937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Imutabilidade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44" name="Shape 444"/>
          <p:cNvSpPr/>
          <p:nvPr/>
        </p:nvSpPr>
        <p:spPr>
          <a:xfrm>
            <a:off x="1924350" y="2892500"/>
            <a:ext cx="1886700" cy="1808100"/>
          </a:xfrm>
          <a:prstGeom prst="ellipse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5" name="Shape 445"/>
          <p:cNvSpPr txBox="1"/>
          <p:nvPr/>
        </p:nvSpPr>
        <p:spPr>
          <a:xfrm>
            <a:off x="2414850" y="3426050"/>
            <a:ext cx="9057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46" name="Shape 446"/>
          <p:cNvSpPr txBox="1"/>
          <p:nvPr/>
        </p:nvSpPr>
        <p:spPr>
          <a:xfrm>
            <a:off x="2091100" y="970850"/>
            <a:ext cx="16533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Funções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Puras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451"/>
          <p:cNvSpPr/>
          <p:nvPr/>
        </p:nvSpPr>
        <p:spPr>
          <a:xfrm>
            <a:off x="2031900" y="824876"/>
            <a:ext cx="3784500" cy="3936000"/>
          </a:xfrm>
          <a:prstGeom prst="ellipse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52" name="Shape 452"/>
          <p:cNvSpPr txBox="1"/>
          <p:nvPr/>
        </p:nvSpPr>
        <p:spPr>
          <a:xfrm>
            <a:off x="2377163" y="2085528"/>
            <a:ext cx="2996100" cy="16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pt-BR" sz="7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72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Shape 457"/>
          <p:cNvSpPr txBox="1"/>
          <p:nvPr>
            <p:ph idx="1" type="body"/>
          </p:nvPr>
        </p:nvSpPr>
        <p:spPr>
          <a:xfrm>
            <a:off x="2014575" y="1397375"/>
            <a:ext cx="55179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=&gt; ["S", "T"]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pt-BR" sz="2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lista2 =&gt; ["S", "C"]</a:t>
            </a:r>
            <a:endParaRPr sz="2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3" name="Shape 463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Shape 464"/>
          <p:cNvSpPr txBox="1"/>
          <p:nvPr/>
        </p:nvSpPr>
        <p:spPr>
          <a:xfrm>
            <a:off x="7218375" y="-28850"/>
            <a:ext cx="94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65" name="Shape 465"/>
          <p:cNvSpPr txBox="1"/>
          <p:nvPr/>
        </p:nvSpPr>
        <p:spPr>
          <a:xfrm>
            <a:off x="5832125" y="6403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66" name="Shape 466"/>
          <p:cNvSpPr txBox="1"/>
          <p:nvPr>
            <p:ph idx="1" type="body"/>
          </p:nvPr>
        </p:nvSpPr>
        <p:spPr>
          <a:xfrm>
            <a:off x="229550" y="2006975"/>
            <a:ext cx="86970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"T"]</a:t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lista2 = lista.map(function (rm) {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if (rm == “H3”) { return “H4”; }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else { return rm; }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});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t/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471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2" name="Shape 472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Shape 473"/>
          <p:cNvSpPr txBox="1"/>
          <p:nvPr/>
        </p:nvSpPr>
        <p:spPr>
          <a:xfrm>
            <a:off x="7218375" y="-28850"/>
            <a:ext cx="94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74" name="Shape 474"/>
          <p:cNvSpPr txBox="1"/>
          <p:nvPr/>
        </p:nvSpPr>
        <p:spPr>
          <a:xfrm>
            <a:off x="5832125" y="6403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75" name="Shape 475"/>
          <p:cNvSpPr txBox="1"/>
          <p:nvPr>
            <p:ph idx="1" type="body"/>
          </p:nvPr>
        </p:nvSpPr>
        <p:spPr>
          <a:xfrm>
            <a:off x="229550" y="2006975"/>
            <a:ext cx="86970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"T"]</a:t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lista2 = lista.map(function (rm) {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if (rm == “H3”) { return “H4”; }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else { return rm; }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});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t/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76" name="Shape 476"/>
          <p:cNvSpPr/>
          <p:nvPr/>
        </p:nvSpPr>
        <p:spPr>
          <a:xfrm rot="-5400000">
            <a:off x="2371175" y="1635000"/>
            <a:ext cx="1358700" cy="2129100"/>
          </a:xfrm>
          <a:prstGeom prst="bentArrow">
            <a:avLst>
              <a:gd fmla="val 15917" name="adj1"/>
              <a:gd fmla="val 25000" name="adj2"/>
              <a:gd fmla="val 25000" name="adj3"/>
              <a:gd fmla="val 43750" name="adj4"/>
            </a:avLst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Shape 477"/>
          <p:cNvSpPr/>
          <p:nvPr/>
        </p:nvSpPr>
        <p:spPr>
          <a:xfrm rot="-5400000">
            <a:off x="3348250" y="1635000"/>
            <a:ext cx="1358700" cy="2129100"/>
          </a:xfrm>
          <a:prstGeom prst="bentArrow">
            <a:avLst>
              <a:gd fmla="val 15917" name="adj1"/>
              <a:gd fmla="val 25802" name="adj2"/>
              <a:gd fmla="val 25888" name="adj3"/>
              <a:gd fmla="val 42198" name="adj4"/>
            </a:avLst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Shape 478"/>
          <p:cNvSpPr txBox="1"/>
          <p:nvPr/>
        </p:nvSpPr>
        <p:spPr>
          <a:xfrm>
            <a:off x="5160500" y="2857200"/>
            <a:ext cx="48969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rPr lang="pt-BR" sz="2500">
                <a:solidFill>
                  <a:schemeClr val="lt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função x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Shape 483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4" name="Shape 484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Shape 485"/>
          <p:cNvSpPr txBox="1"/>
          <p:nvPr/>
        </p:nvSpPr>
        <p:spPr>
          <a:xfrm>
            <a:off x="7218375" y="-28850"/>
            <a:ext cx="94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86" name="Shape 486"/>
          <p:cNvSpPr txBox="1"/>
          <p:nvPr/>
        </p:nvSpPr>
        <p:spPr>
          <a:xfrm>
            <a:off x="5832125" y="6403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87" name="Shape 487"/>
          <p:cNvSpPr txBox="1"/>
          <p:nvPr>
            <p:ph idx="1" type="body"/>
          </p:nvPr>
        </p:nvSpPr>
        <p:spPr>
          <a:xfrm>
            <a:off x="229550" y="2006975"/>
            <a:ext cx="86970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"T"]</a:t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lista2 = </a:t>
            </a: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lista.map(function (rm) {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if (rm == “H3”) { return “H4”; }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else { return rm; }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});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t/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Shape 492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3" name="Shape 493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Shape 494"/>
          <p:cNvSpPr txBox="1"/>
          <p:nvPr/>
        </p:nvSpPr>
        <p:spPr>
          <a:xfrm>
            <a:off x="7218375" y="-28850"/>
            <a:ext cx="94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95" name="Shape 495"/>
          <p:cNvSpPr txBox="1"/>
          <p:nvPr/>
        </p:nvSpPr>
        <p:spPr>
          <a:xfrm>
            <a:off x="5832125" y="6403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96" name="Shape 496"/>
          <p:cNvSpPr txBox="1"/>
          <p:nvPr>
            <p:ph idx="1" type="body"/>
          </p:nvPr>
        </p:nvSpPr>
        <p:spPr>
          <a:xfrm>
            <a:off x="229550" y="2006975"/>
            <a:ext cx="86970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"T"]</a:t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lista2 = lista.map(</a:t>
            </a: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function (rm) {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if (rm == “H3”) { return “H4”; }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else { return rm; }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);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t/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2" name="Shape 502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Shape 503"/>
          <p:cNvSpPr txBox="1"/>
          <p:nvPr/>
        </p:nvSpPr>
        <p:spPr>
          <a:xfrm>
            <a:off x="7218375" y="-28850"/>
            <a:ext cx="94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04" name="Shape 504"/>
          <p:cNvSpPr txBox="1"/>
          <p:nvPr/>
        </p:nvSpPr>
        <p:spPr>
          <a:xfrm>
            <a:off x="5832125" y="6403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05" name="Shape 505"/>
          <p:cNvSpPr txBox="1"/>
          <p:nvPr>
            <p:ph idx="1" type="body"/>
          </p:nvPr>
        </p:nvSpPr>
        <p:spPr>
          <a:xfrm>
            <a:off x="229550" y="2006975"/>
            <a:ext cx="86970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"T"]</a:t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lista2 = lista.map(</a:t>
            </a: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function (it) {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if (rm == “H3”) { return “H4”; }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else { return rm; }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});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t/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Shape 510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1" name="Shape 511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Shape 512"/>
          <p:cNvSpPr txBox="1"/>
          <p:nvPr/>
        </p:nvSpPr>
        <p:spPr>
          <a:xfrm>
            <a:off x="7218375" y="-28850"/>
            <a:ext cx="94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13" name="Shape 513"/>
          <p:cNvSpPr txBox="1"/>
          <p:nvPr/>
        </p:nvSpPr>
        <p:spPr>
          <a:xfrm>
            <a:off x="5832125" y="6403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14" name="Shape 514"/>
          <p:cNvSpPr txBox="1"/>
          <p:nvPr>
            <p:ph idx="1" type="body"/>
          </p:nvPr>
        </p:nvSpPr>
        <p:spPr>
          <a:xfrm>
            <a:off x="229550" y="2006975"/>
            <a:ext cx="86970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"T"]</a:t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lista2 = lista.map(</a:t>
            </a: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function (it) {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if (it == “T”)</a:t>
            </a: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{ return “H4”; }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else { return rm; }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});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t/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519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0" name="Shape 520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Shape 521"/>
          <p:cNvSpPr txBox="1"/>
          <p:nvPr/>
        </p:nvSpPr>
        <p:spPr>
          <a:xfrm>
            <a:off x="7218375" y="-28850"/>
            <a:ext cx="94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22" name="Shape 522"/>
          <p:cNvSpPr txBox="1"/>
          <p:nvPr/>
        </p:nvSpPr>
        <p:spPr>
          <a:xfrm>
            <a:off x="5832125" y="6403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23" name="Shape 523"/>
          <p:cNvSpPr txBox="1"/>
          <p:nvPr>
            <p:ph idx="1" type="body"/>
          </p:nvPr>
        </p:nvSpPr>
        <p:spPr>
          <a:xfrm>
            <a:off x="229550" y="2006975"/>
            <a:ext cx="86970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"T"]</a:t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lista2 = lista.map(</a:t>
            </a: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function (it) {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if (it == “T”) { return “C”; }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else { return rm; }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});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t/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Shape 528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9" name="Shape 529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Shape 530"/>
          <p:cNvSpPr txBox="1"/>
          <p:nvPr/>
        </p:nvSpPr>
        <p:spPr>
          <a:xfrm>
            <a:off x="7218375" y="-28850"/>
            <a:ext cx="94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31" name="Shape 531"/>
          <p:cNvSpPr txBox="1"/>
          <p:nvPr/>
        </p:nvSpPr>
        <p:spPr>
          <a:xfrm>
            <a:off x="5832125" y="6403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32" name="Shape 532"/>
          <p:cNvSpPr txBox="1"/>
          <p:nvPr>
            <p:ph idx="1" type="body"/>
          </p:nvPr>
        </p:nvSpPr>
        <p:spPr>
          <a:xfrm>
            <a:off x="229550" y="2006975"/>
            <a:ext cx="86970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"T"]</a:t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lista2 = lista.map(</a:t>
            </a: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function (it) {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if (it == “T”) { return “C”; }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else</a:t>
            </a: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{ return rm; }</a:t>
            </a:r>
            <a:endParaRPr sz="2500">
              <a:solidFill>
                <a:srgbClr val="FFFFFF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});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t/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Shape 537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8" name="Shape 538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Shape 539"/>
          <p:cNvSpPr txBox="1"/>
          <p:nvPr/>
        </p:nvSpPr>
        <p:spPr>
          <a:xfrm>
            <a:off x="7218375" y="-28850"/>
            <a:ext cx="94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40" name="Shape 540"/>
          <p:cNvSpPr txBox="1"/>
          <p:nvPr/>
        </p:nvSpPr>
        <p:spPr>
          <a:xfrm>
            <a:off x="5832125" y="6403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41" name="Shape 541"/>
          <p:cNvSpPr txBox="1"/>
          <p:nvPr>
            <p:ph idx="1" type="body"/>
          </p:nvPr>
        </p:nvSpPr>
        <p:spPr>
          <a:xfrm>
            <a:off x="229550" y="2006975"/>
            <a:ext cx="86970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"T"]</a:t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lista2 = lista.map(</a:t>
            </a: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function (it) {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if (it == “T”) { return “C”; }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else { return it; }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});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t/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Shape 546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7" name="Shape 547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Shape 548"/>
          <p:cNvSpPr txBox="1"/>
          <p:nvPr/>
        </p:nvSpPr>
        <p:spPr>
          <a:xfrm>
            <a:off x="7218375" y="-28850"/>
            <a:ext cx="94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49" name="Shape 549"/>
          <p:cNvSpPr txBox="1"/>
          <p:nvPr/>
        </p:nvSpPr>
        <p:spPr>
          <a:xfrm>
            <a:off x="5832125" y="6403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50" name="Shape 550"/>
          <p:cNvSpPr txBox="1"/>
          <p:nvPr>
            <p:ph idx="1" type="body"/>
          </p:nvPr>
        </p:nvSpPr>
        <p:spPr>
          <a:xfrm>
            <a:off x="229550" y="2006975"/>
            <a:ext cx="86970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"T"]</a:t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lista2 = lista.map(</a:t>
            </a: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function (it) {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if (it == “T”) { return “C”; }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else { return it; }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});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&gt;&gt; lista2 =&gt; ["S", "C"]</a:t>
            </a:r>
            <a:endParaRPr sz="1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Shape 555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6" name="Shape 556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Shape 557"/>
          <p:cNvSpPr txBox="1"/>
          <p:nvPr/>
        </p:nvSpPr>
        <p:spPr>
          <a:xfrm>
            <a:off x="7218375" y="-28850"/>
            <a:ext cx="94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58" name="Shape 558"/>
          <p:cNvSpPr txBox="1"/>
          <p:nvPr/>
        </p:nvSpPr>
        <p:spPr>
          <a:xfrm>
            <a:off x="5832125" y="6403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59" name="Shape 559"/>
          <p:cNvSpPr txBox="1"/>
          <p:nvPr>
            <p:ph idx="1" type="body"/>
          </p:nvPr>
        </p:nvSpPr>
        <p:spPr>
          <a:xfrm>
            <a:off x="229550" y="2006975"/>
            <a:ext cx="86970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"T"]</a:t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lista2 = lista.map(</a:t>
            </a: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function (it) {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if (it == “T”) { return “C”; }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else { return it; }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});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&gt;&gt; lista2 =&gt; ["S", "C"]                </a:t>
            </a:r>
            <a:r>
              <a:rPr lang="pt-BR" sz="1800">
                <a:solidFill>
                  <a:schemeClr val="lt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&gt;&gt; lista =&gt; ["S", "T"]</a:t>
            </a:r>
            <a:endParaRPr sz="1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Shape 564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5" name="Shape 565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Shape 566"/>
          <p:cNvSpPr txBox="1"/>
          <p:nvPr/>
        </p:nvSpPr>
        <p:spPr>
          <a:xfrm>
            <a:off x="7218375" y="-28850"/>
            <a:ext cx="94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67" name="Shape 567"/>
          <p:cNvSpPr txBox="1"/>
          <p:nvPr/>
        </p:nvSpPr>
        <p:spPr>
          <a:xfrm>
            <a:off x="5832125" y="6403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68" name="Shape 568"/>
          <p:cNvSpPr txBox="1"/>
          <p:nvPr>
            <p:ph idx="1" type="body"/>
          </p:nvPr>
        </p:nvSpPr>
        <p:spPr>
          <a:xfrm>
            <a:off x="229550" y="2006975"/>
            <a:ext cx="86970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"T"]</a:t>
            </a:r>
            <a:endParaRPr sz="25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lista2 = lista.map(</a:t>
            </a: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function (it) {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if (it == “T”) { return “C”; }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else { return it; }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});</a:t>
            </a:r>
            <a:endParaRPr sz="25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40000"/>
              </a:lnSpc>
              <a:spcBef>
                <a:spcPts val="1100"/>
              </a:spcBef>
              <a:spcAft>
                <a:spcPts val="130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&gt;&gt; lista2 =&gt; ["S", "C"]                </a:t>
            </a:r>
            <a:r>
              <a:rPr lang="pt-BR" sz="1800">
                <a:solidFill>
                  <a:schemeClr val="lt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&gt;&gt; lista =&gt; ["S", "T"]</a:t>
            </a:r>
            <a:endParaRPr sz="1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69" name="Shape 569"/>
          <p:cNvSpPr/>
          <p:nvPr/>
        </p:nvSpPr>
        <p:spPr>
          <a:xfrm>
            <a:off x="7367500" y="3094600"/>
            <a:ext cx="1268400" cy="12756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0" name="Shape 570"/>
          <p:cNvSpPr txBox="1"/>
          <p:nvPr/>
        </p:nvSpPr>
        <p:spPr>
          <a:xfrm>
            <a:off x="7352525" y="3512912"/>
            <a:ext cx="13587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Imutabilidade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71" name="Shape 571"/>
          <p:cNvSpPr/>
          <p:nvPr/>
        </p:nvSpPr>
        <p:spPr>
          <a:xfrm>
            <a:off x="6521075" y="3630525"/>
            <a:ext cx="799200" cy="705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Shape 576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Mais informações</a:t>
            </a:r>
            <a:endParaRPr/>
          </a:p>
        </p:txBody>
      </p:sp>
      <p:sp>
        <p:nvSpPr>
          <p:cNvPr id="577" name="Shape 577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Shape 57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900">
                <a:solidFill>
                  <a:schemeClr val="dk1"/>
                </a:solidFill>
              </a:rPr>
              <a:t>maryrosecook.com</a:t>
            </a:r>
            <a:endParaRPr sz="1900">
              <a:solidFill>
                <a:schemeClr val="dk1"/>
              </a:solidFill>
            </a:endParaRPr>
          </a:p>
          <a:p>
            <a: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900">
                <a:solidFill>
                  <a:schemeClr val="dk1"/>
                </a:solidFill>
              </a:rPr>
              <a:t>vakila.github.io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Shape 583"/>
          <p:cNvSpPr/>
          <p:nvPr/>
        </p:nvSpPr>
        <p:spPr>
          <a:xfrm>
            <a:off x="5931675" y="123550"/>
            <a:ext cx="1886700" cy="1808100"/>
          </a:xfrm>
          <a:prstGeom prst="ellipse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4" name="Shape 584"/>
          <p:cNvSpPr/>
          <p:nvPr/>
        </p:nvSpPr>
        <p:spPr>
          <a:xfrm>
            <a:off x="7277275" y="66450"/>
            <a:ext cx="1358700" cy="292200"/>
          </a:xfrm>
          <a:prstGeom prst="rect">
            <a:avLst/>
          </a:prstGeom>
          <a:solidFill>
            <a:srgbClr val="FF830E"/>
          </a:solidFill>
          <a:ln cap="flat" cmpd="sng" w="9525">
            <a:solidFill>
              <a:srgbClr val="FF8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Shape 585"/>
          <p:cNvSpPr txBox="1"/>
          <p:nvPr/>
        </p:nvSpPr>
        <p:spPr>
          <a:xfrm>
            <a:off x="7218375" y="-28850"/>
            <a:ext cx="943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2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86" name="Shape 586"/>
          <p:cNvSpPr txBox="1"/>
          <p:nvPr/>
        </p:nvSpPr>
        <p:spPr>
          <a:xfrm>
            <a:off x="5832125" y="640350"/>
            <a:ext cx="21171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Map</a:t>
            </a:r>
            <a:endParaRPr sz="3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87" name="Shape 587"/>
          <p:cNvSpPr txBox="1"/>
          <p:nvPr>
            <p:ph idx="1" type="body"/>
          </p:nvPr>
        </p:nvSpPr>
        <p:spPr>
          <a:xfrm>
            <a:off x="229550" y="2006975"/>
            <a:ext cx="39789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"T"]</a:t>
            </a:r>
            <a:endParaRPr sz="1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lista2 = new []</a:t>
            </a:r>
            <a:endParaRPr sz="1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for (...) </a:t>
            </a:r>
            <a:endParaRPr sz="1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 sz="1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if (lista[i] == "T")</a:t>
            </a:r>
            <a:endParaRPr sz="1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lista2[i] = "C"</a:t>
            </a:r>
            <a:endParaRPr sz="1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else</a:t>
            </a:r>
            <a:endParaRPr sz="1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lista2[i] = lista[i]</a:t>
            </a:r>
            <a:endParaRPr sz="1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1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88" name="Shape 588"/>
          <p:cNvSpPr txBox="1"/>
          <p:nvPr>
            <p:ph idx="1" type="body"/>
          </p:nvPr>
        </p:nvSpPr>
        <p:spPr>
          <a:xfrm>
            <a:off x="4182500" y="1930775"/>
            <a:ext cx="4939500" cy="24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 = ["S", "T"]</a:t>
            </a:r>
            <a:endParaRPr sz="1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lista2 = </a:t>
            </a:r>
            <a:r>
              <a:rPr lang="pt-BR" sz="1800">
                <a:solidFill>
                  <a:schemeClr val="lt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lista.map(</a:t>
            </a:r>
            <a:r>
              <a:rPr lang="pt-BR" sz="18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function (it) {</a:t>
            </a:r>
            <a:endParaRPr sz="18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if (it == “T”) { return “C”; }</a:t>
            </a:r>
            <a:endParaRPr sz="18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lang="pt-BR" sz="18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else           { return it;  }</a:t>
            </a:r>
            <a:endParaRPr sz="1800">
              <a:solidFill>
                <a:schemeClr val="lt2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2"/>
                </a:solidFill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});</a:t>
            </a:r>
            <a:endParaRPr sz="1800">
              <a:solidFill>
                <a:srgbClr val="999999"/>
              </a:solidFill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589" name="Shape 589"/>
          <p:cNvCxnSpPr/>
          <p:nvPr/>
        </p:nvCxnSpPr>
        <p:spPr>
          <a:xfrm flipH="1">
            <a:off x="3925175" y="1983700"/>
            <a:ext cx="11100" cy="235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